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3716000" cy="5257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73"/>
  </p:normalViewPr>
  <p:slideViewPr>
    <p:cSldViewPr snapToGrid="0" snapToObjects="1">
      <p:cViewPr>
        <p:scale>
          <a:sx n="82" d="100"/>
          <a:sy n="82" d="100"/>
        </p:scale>
        <p:origin x="824" y="1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00" cy="52578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6E6B62"/>
                </a:solidFill>
                <a:latin typeface="IBM Plex Mono"/>
              </a:rPr>
              <a:t>SKILLS/SITING-RUN/SKILL.MD — FIVE STAGES, ONE 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82880"/>
            <a:ext cx="42976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27432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C1B18"/>
                </a:solidFill>
                <a:latin typeface="IBM Plex Mono"/>
              </a:rPr>
              <a:t>DECISION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27797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0" i="0">
                <a:solidFill>
                  <a:srgbClr val="6E6B62"/>
                </a:solidFill>
                <a:latin typeface="IBM Plex Mono"/>
              </a:rPr>
              <a:t>siting/decisions.py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" y="438912"/>
            <a:ext cx="382219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184" y="512064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data_currency_accepted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276B67"/>
                </a:solidFill>
                <a:latin typeface="IBM Plex Mono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76656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service_radius_m ·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76656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276B67"/>
                </a:solidFill>
                <a:latin typeface="IBM Plex Mono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841248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841248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6E6B62"/>
                </a:solidFill>
                <a:latin typeface="IBM Plex Mono"/>
              </a:rPr>
              <a:t>operator, upfront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88720" y="1060704"/>
            <a:ext cx="0" cy="493776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1124712" y="1271016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3474720" y="1060704"/>
            <a:ext cx="0" cy="493776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3410712" y="1271016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023360" y="1152144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12070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Mono"/>
              </a:rP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35331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A85B12"/>
                </a:solidFill>
                <a:latin typeface="IBM Plex Sans"/>
              </a:rPr>
              <a:t>refuses if incomplete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97680" y="1060704"/>
            <a:ext cx="274320" cy="91440"/>
          </a:xfrm>
          <a:prstGeom prst="line">
            <a:avLst/>
          </a:prstGeom>
          <a:ln w="1778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7720" y="1481328"/>
            <a:ext cx="502920" cy="73152"/>
          </a:xfrm>
          <a:prstGeom prst="line">
            <a:avLst/>
          </a:prstGeom>
          <a:ln w="2032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12326112" y="1307592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2390120" y="1435608"/>
            <a:ext cx="0" cy="118872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75720" y="1115568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A85B12"/>
                </a:solidFill>
                <a:latin typeface="IBM Plex Sans"/>
              </a:rPr>
              <a:t>checkpoint: override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EBF2F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1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assess the data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data-scout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· Bash · Grep</a:t>
            </a:r>
          </a:p>
          <a:p>
            <a:pPr algn="l"/>
            <a:r>
              <a:rPr sz="760" b="0" i="0">
                <a:solidFill>
                  <a:srgbClr val="6E6B62"/>
                </a:solidFill>
                <a:latin typeface="IBM Plex Sans"/>
              </a:rPr>
              <a:t>holdings · age · reachability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918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6888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EBF2F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2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prepare the decisions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spatial-analyst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· Bash · Grep</a:t>
            </a:r>
          </a:p>
          <a:p>
            <a:pPr algn="l"/>
            <a:r>
              <a:rPr sz="760" b="0" i="0">
                <a:solidFill>
                  <a:srgbClr val="6E6B62"/>
                </a:solidFill>
                <a:latin typeface="IBM Plex Sans"/>
              </a:rPr>
              <a:t>priced options + a recommendation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1518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54880" y="1554480"/>
            <a:ext cx="4023360" cy="2011680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3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run the analysis</a:t>
            </a:r>
          </a:p>
          <a:p>
            <a:pPr algn="l"/>
            <a:r>
              <a:rPr sz="760" b="0" i="0">
                <a:solidFill>
                  <a:srgbClr val="46586A"/>
                </a:solidFill>
                <a:latin typeface="IBM Plex Mono"/>
              </a:rPr>
              <a:t>python -m siting.cli — one subprocess call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01184" y="2139696"/>
            <a:ext cx="373075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01184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retrieve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76672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compile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solve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guardrail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/ override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03136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evaluate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equity check</a:t>
            </a:r>
          </a:p>
        </p:txBody>
      </p:sp>
      <p:sp>
        <p:nvSpPr>
          <p:cNvPr id="42" name="Hexagon 41"/>
          <p:cNvSpPr/>
          <p:nvPr/>
        </p:nvSpPr>
        <p:spPr>
          <a:xfrm>
            <a:off x="7278624" y="2249424"/>
            <a:ext cx="402336" cy="475488"/>
          </a:xfrm>
          <a:prstGeom prst="hexagon">
            <a:avLst/>
          </a:prstGeom>
          <a:solidFill>
            <a:srgbClr val="F3E2CC"/>
          </a:solidFill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10" b="1" i="0">
                <a:solidFill>
                  <a:srgbClr val="A85B12"/>
                </a:solidFill>
                <a:latin typeface="IBM Plex Mono"/>
              </a:rPr>
              <a:t>SCORE</a:t>
            </a:r>
          </a:p>
          <a:p>
            <a:pPr algn="ctr"/>
            <a:r>
              <a:rPr sz="470" b="0" i="0">
                <a:solidFill>
                  <a:srgbClr val="1C1B18"/>
                </a:solidFill>
                <a:latin typeface="IBM Plex Sans"/>
              </a:rPr>
              <a:t>rules|llm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04304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stops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below floor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54112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render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confirm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before issue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0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779008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54496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29984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05472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80960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156448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0" y="3063240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1">
                <a:solidFill>
                  <a:srgbClr val="6E6B62"/>
                </a:solidFill>
                <a:latin typeface="IBM Plex Sans"/>
              </a:rPr>
              <a:t>amber = a harness checkpoint fires here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3b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figures reviewed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map-reviewer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only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19886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966960" y="1609344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276B67"/>
                </a:solidFill>
                <a:latin typeface="IBM Plex Sans"/>
              </a:rPr>
              <a:t>↺ may repeat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4" y="2578608"/>
            <a:ext cx="1719072" cy="310896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650" b="1" i="0">
                <a:solidFill>
                  <a:srgbClr val="276B67"/>
                </a:solidFill>
                <a:latin typeface="IBM Plex Mono"/>
              </a:rPr>
              <a:t>LAYER: rendered images</a:t>
            </a:r>
          </a:p>
          <a:p>
            <a:pPr algn="l"/>
            <a:r>
              <a:rPr sz="650" b="0" i="0">
                <a:solidFill>
                  <a:srgbClr val="6E6B62"/>
                </a:solidFill>
                <a:latin typeface="IBM Plex Mono"/>
              </a:rPr>
              <a:t>figures.json + map_*.png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8864" y="2980944"/>
            <a:ext cx="1719072" cy="219456"/>
          </a:xfrm>
          <a:prstGeom prst="roundRect">
            <a:avLst>
              <a:gd name="adj" fmla="val 50000"/>
            </a:avLst>
          </a:prstGeom>
          <a:solidFill>
            <a:srgbClr val="EEF5F4"/>
          </a:solidFill>
          <a:ln w="1524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/>
            <a:r>
              <a:rPr sz="680" b="0" i="0">
                <a:solidFill>
                  <a:srgbClr val="276B67"/>
                </a:solidFill>
                <a:latin typeface="IBM Plex Sans"/>
              </a:rPr>
              <a:t>accept · revise · unreadable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338560" y="1554480"/>
            <a:ext cx="2103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4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officer reviews the plan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plan-reviewer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only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484864" y="2084832"/>
            <a:ext cx="181051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1484864" y="2578608"/>
            <a:ext cx="1719072" cy="310896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650" b="1" i="0">
                <a:solidFill>
                  <a:srgbClr val="276B67"/>
                </a:solidFill>
                <a:latin typeface="IBM Plex Mono"/>
              </a:rPr>
              <a:t>LAYER: the account</a:t>
            </a:r>
          </a:p>
          <a:p>
            <a:pPr algn="l"/>
            <a:r>
              <a:rPr sz="650" b="0" i="0">
                <a:solidFill>
                  <a:srgbClr val="6E6B62"/>
                </a:solidFill>
                <a:latin typeface="IBM Plex Mono"/>
              </a:rPr>
              <a:t>results.json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84864" y="29260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1C1B18"/>
                </a:solidFill>
                <a:latin typeface="IBM Plex Mono"/>
              </a:rPr>
              <a:t>VETO · PIN · REWEIGHT · RESCOPE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84864" y="307238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 i="1">
                <a:solidFill>
                  <a:srgbClr val="6E6B62"/>
                </a:solidFill>
                <a:latin typeface="IBM Plex Sans"/>
              </a:rPr>
              <a:t>reason mandatory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9456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8056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77824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06424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058400" y="3566160"/>
            <a:ext cx="0" cy="36576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955280" y="3931920"/>
            <a:ext cx="2103120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955280" y="3566160"/>
            <a:ext cx="0" cy="365760"/>
          </a:xfrm>
          <a:prstGeom prst="line">
            <a:avLst/>
          </a:prstGeom>
          <a:ln w="16510">
            <a:solidFill>
              <a:srgbClr val="276B6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589520" y="378561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276B67"/>
                </a:solidFill>
                <a:latin typeface="IBM Plex Sans"/>
              </a:rPr>
              <a:t>↺ revise → fix → review again, until accept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2390120" y="3566160"/>
            <a:ext cx="0" cy="73152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6528816" y="4297680"/>
            <a:ext cx="5861304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528816" y="3566160"/>
            <a:ext cx="0" cy="731520"/>
          </a:xfrm>
          <a:prstGeom prst="line">
            <a:avLst/>
          </a:prstGeom>
          <a:ln w="16510">
            <a:solidFill>
              <a:srgbClr val="276B6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955280" y="4151376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0" i="0">
                <a:solidFill>
                  <a:srgbClr val="276B67"/>
                </a:solidFill>
                <a:latin typeface="IBM Plex Sans"/>
              </a:rPr>
              <a:t>overrides written → --overrides (resumes)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1887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4747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31520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3901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82880" y="4572000"/>
            <a:ext cx="13258800" cy="0"/>
          </a:xfrm>
          <a:prstGeom prst="line">
            <a:avLst/>
          </a:prstGeom>
          <a:ln w="2032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82880" y="464515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5B12"/>
                </a:solidFill>
                <a:latin typeface="IBM Plex Mono"/>
              </a:rPr>
              <a:t>HARNESS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8" y="467258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6E6B62"/>
                </a:solidFill>
                <a:latin typeface="IBM Plex Mono"/>
              </a:rPr>
              <a:t>extends NORA, 2026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468880" y="4654296"/>
            <a:ext cx="859536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no default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56432" y="4654296"/>
            <a:ext cx="1609344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checkpoints gate both modes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93792" y="4654296"/>
            <a:ext cx="1755648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overrides priced, not blocked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077456" y="4654296"/>
            <a:ext cx="1371600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every figure traceable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" y="4919472"/>
            <a:ext cx="9144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 i="0">
                <a:solidFill>
                  <a:srgbClr val="6E6B62"/>
                </a:solidFill>
                <a:latin typeface="IBM Plex Mono"/>
              </a:rPr>
              <a:t>runs/&lt;run-id&gt;/RUN_RECORD.md carries every stage, retrieval, override and score in one account.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AD2D-8BF7-58B1-8CD4-1E35A938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4392F7-BB54-D610-84CC-29D9BCA13334}"/>
              </a:ext>
            </a:extLst>
          </p:cNvPr>
          <p:cNvSpPr/>
          <p:nvPr/>
        </p:nvSpPr>
        <p:spPr>
          <a:xfrm>
            <a:off x="-1313793" y="10329"/>
            <a:ext cx="15029793" cy="5050904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77534F8-443A-F8D5-2B03-AFC4697813D5}"/>
              </a:ext>
            </a:extLst>
          </p:cNvPr>
          <p:cNvSpPr/>
          <p:nvPr/>
        </p:nvSpPr>
        <p:spPr>
          <a:xfrm>
            <a:off x="182881" y="712525"/>
            <a:ext cx="2979462" cy="1070005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D4236-9EA6-AED7-DCEE-8C35CB1F6737}"/>
              </a:ext>
            </a:extLst>
          </p:cNvPr>
          <p:cNvSpPr txBox="1"/>
          <p:nvPr/>
        </p:nvSpPr>
        <p:spPr>
          <a:xfrm>
            <a:off x="329184" y="809609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DECISION REGISTER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A3AFE39-6380-7F87-00DF-0784ADD2F1A5}"/>
              </a:ext>
            </a:extLst>
          </p:cNvPr>
          <p:cNvCxnSpPr>
            <a:cxnSpLocks/>
          </p:cNvCxnSpPr>
          <p:nvPr/>
        </p:nvCxnSpPr>
        <p:spPr>
          <a:xfrm>
            <a:off x="329184" y="1058840"/>
            <a:ext cx="2743200" cy="8251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BC7E74-7736-4845-DB8A-8AAA64412ADA}"/>
              </a:ext>
            </a:extLst>
          </p:cNvPr>
          <p:cNvSpPr txBox="1"/>
          <p:nvPr/>
        </p:nvSpPr>
        <p:spPr>
          <a:xfrm>
            <a:off x="325522" y="1162265"/>
            <a:ext cx="113480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1.</a:t>
            </a:r>
            <a:r>
              <a:rPr lang="zh-CN" altLang="en-US" sz="90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1C1B18"/>
                </a:solidFill>
                <a:latin typeface="IBM Plex Mono"/>
              </a:rPr>
              <a:t>data_currency_accepted</a:t>
            </a:r>
            <a:endParaRPr sz="900" b="0" i="0" dirty="0">
              <a:solidFill>
                <a:srgbClr val="1C1B18"/>
              </a:solidFill>
              <a:latin typeface="IBM Plex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5E915-6881-BEFE-B601-3F9AAFC5F126}"/>
              </a:ext>
            </a:extLst>
          </p:cNvPr>
          <p:cNvSpPr txBox="1"/>
          <p:nvPr/>
        </p:nvSpPr>
        <p:spPr>
          <a:xfrm>
            <a:off x="1756877" y="1159424"/>
            <a:ext cx="140546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2.</a:t>
            </a:r>
            <a:r>
              <a:rPr lang="zh-CN" altLang="en-US" sz="900" b="0" i="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1C1B18"/>
                </a:solidFill>
                <a:latin typeface="IBM Plex Mono"/>
              </a:rPr>
              <a:t>service_radius_m</a:t>
            </a:r>
            <a:r>
              <a:rPr sz="900" b="0" i="0" dirty="0">
                <a:solidFill>
                  <a:srgbClr val="1C1B18"/>
                </a:solidFill>
                <a:latin typeface="IBM Plex Mono"/>
              </a:rPr>
              <a:t> </a:t>
            </a:r>
            <a:endParaRPr lang="en-US" sz="900" b="0" i="0" dirty="0">
              <a:solidFill>
                <a:srgbClr val="1C1B18"/>
              </a:solidFill>
              <a:latin typeface="IBM Plex Mono"/>
            </a:endParaRPr>
          </a:p>
          <a:p>
            <a:r>
              <a:rPr lang="en-US" altLang="zh-CN" sz="900" dirty="0">
                <a:solidFill>
                  <a:srgbClr val="1C1B18"/>
                </a:solidFill>
                <a:latin typeface="IBM Plex Mono"/>
              </a:rPr>
              <a:t>3.</a:t>
            </a:r>
            <a:r>
              <a:rPr lang="zh-CN" altLang="en-US" sz="90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>
                <a:solidFill>
                  <a:srgbClr val="1C1B18"/>
                </a:solidFill>
                <a:latin typeface="IBM Plex Mono"/>
              </a:rPr>
              <a:t>objective</a:t>
            </a:r>
            <a:r>
              <a:rPr lang="en-CN" sz="900" b="0" i="0" dirty="0">
                <a:solidFill>
                  <a:srgbClr val="1C1B18"/>
                </a:solidFill>
                <a:latin typeface="IBM Plex Mono"/>
              </a:rPr>
              <a:t> </a:t>
            </a:r>
          </a:p>
          <a:p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4.</a:t>
            </a:r>
            <a:r>
              <a:rPr lang="zh-CN" altLang="en-US" sz="900" b="0" i="0" dirty="0">
                <a:solidFill>
                  <a:srgbClr val="1C1B18"/>
                </a:solidFill>
                <a:latin typeface="IBM Plex Mono"/>
              </a:rPr>
              <a:t> </a:t>
            </a:r>
            <a:r>
              <a:rPr lang="en-US" sz="900" b="0" i="0" dirty="0">
                <a:solidFill>
                  <a:srgbClr val="1C1B18"/>
                </a:solidFill>
                <a:latin typeface="IBM Plex Mono"/>
              </a:rPr>
              <a:t>budget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Mono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B1CEBA4-14FF-8E34-9924-F3C32EF0B80E}"/>
              </a:ext>
            </a:extLst>
          </p:cNvPr>
          <p:cNvCxnSpPr>
            <a:cxnSpLocks/>
          </p:cNvCxnSpPr>
          <p:nvPr/>
        </p:nvCxnSpPr>
        <p:spPr>
          <a:xfrm flipV="1">
            <a:off x="852389" y="1680632"/>
            <a:ext cx="0" cy="515953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9B196341-0867-08C9-DF16-15173AE28589}"/>
              </a:ext>
            </a:extLst>
          </p:cNvPr>
          <p:cNvCxnSpPr>
            <a:cxnSpLocks/>
          </p:cNvCxnSpPr>
          <p:nvPr/>
        </p:nvCxnSpPr>
        <p:spPr>
          <a:xfrm flipV="1">
            <a:off x="2710691" y="1627243"/>
            <a:ext cx="0" cy="592885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4B3CEC-C43A-CE99-FADE-48AA7C0EE661}"/>
              </a:ext>
            </a:extLst>
          </p:cNvPr>
          <p:cNvSpPr/>
          <p:nvPr/>
        </p:nvSpPr>
        <p:spPr>
          <a:xfrm>
            <a:off x="3432466" y="985688"/>
            <a:ext cx="936008" cy="59207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A2337-E763-3D90-7F8E-BDABEE58155C}"/>
              </a:ext>
            </a:extLst>
          </p:cNvPr>
          <p:cNvSpPr txBox="1"/>
          <p:nvPr/>
        </p:nvSpPr>
        <p:spPr>
          <a:xfrm>
            <a:off x="3641104" y="1067091"/>
            <a:ext cx="61790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A85B12"/>
                </a:solidFill>
                <a:latin typeface="IBM Plex Mono"/>
              </a:rPr>
              <a:t>GATE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CDCD61-31CC-C8FB-7302-41A0E4994486}"/>
              </a:ext>
            </a:extLst>
          </p:cNvPr>
          <p:cNvSpPr txBox="1"/>
          <p:nvPr/>
        </p:nvSpPr>
        <p:spPr>
          <a:xfrm>
            <a:off x="3533050" y="1248717"/>
            <a:ext cx="8354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dirty="0">
                <a:solidFill>
                  <a:srgbClr val="A85B12"/>
                </a:solidFill>
                <a:latin typeface="IBM Plex Sans"/>
              </a:rPr>
              <a:t>refuses if incomplete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3B341180-A1C4-F7E1-9B0D-B5AB1B0F6EFE}"/>
              </a:ext>
            </a:extLst>
          </p:cNvPr>
          <p:cNvCxnSpPr>
            <a:cxnSpLocks/>
          </p:cNvCxnSpPr>
          <p:nvPr/>
        </p:nvCxnSpPr>
        <p:spPr>
          <a:xfrm>
            <a:off x="3165523" y="1210662"/>
            <a:ext cx="290908" cy="0"/>
          </a:xfrm>
          <a:prstGeom prst="line">
            <a:avLst/>
          </a:prstGeom>
          <a:ln w="1778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DC683D2E-17DF-84A5-DCA1-276AC19A1622}"/>
              </a:ext>
            </a:extLst>
          </p:cNvPr>
          <p:cNvCxnSpPr>
            <a:cxnSpLocks/>
          </p:cNvCxnSpPr>
          <p:nvPr/>
        </p:nvCxnSpPr>
        <p:spPr>
          <a:xfrm>
            <a:off x="4369631" y="1247787"/>
            <a:ext cx="202937" cy="930"/>
          </a:xfrm>
          <a:prstGeom prst="line">
            <a:avLst/>
          </a:prstGeom>
          <a:ln w="2032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A7F13C6-C127-A436-FA56-F50970FA0CEB}"/>
              </a:ext>
            </a:extLst>
          </p:cNvPr>
          <p:cNvSpPr/>
          <p:nvPr/>
        </p:nvSpPr>
        <p:spPr>
          <a:xfrm>
            <a:off x="182880" y="2174408"/>
            <a:ext cx="1335023" cy="189514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1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assess the data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8F4C15D3-71AB-2D0E-59CC-5CDA55BF3D63}"/>
              </a:ext>
            </a:extLst>
          </p:cNvPr>
          <p:cNvCxnSpPr>
            <a:cxnSpLocks/>
          </p:cNvCxnSpPr>
          <p:nvPr/>
        </p:nvCxnSpPr>
        <p:spPr>
          <a:xfrm>
            <a:off x="329184" y="2704760"/>
            <a:ext cx="1042416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286CD05-6AAD-6187-F65C-4E92A285F02C}"/>
              </a:ext>
            </a:extLst>
          </p:cNvPr>
          <p:cNvSpPr/>
          <p:nvPr/>
        </p:nvSpPr>
        <p:spPr>
          <a:xfrm>
            <a:off x="1850812" y="2174408"/>
            <a:ext cx="1770209" cy="1895145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2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prepare the decisions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  <a:p>
            <a:pPr algn="l"/>
            <a:endParaRPr sz="760" b="0" i="0" dirty="0">
              <a:solidFill>
                <a:srgbClr val="6E6B62"/>
              </a:solidFill>
              <a:latin typeface="IBM Plex Sans"/>
            </a:endParaRP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E5A30D61-ADA1-08F6-BD10-DDDB3BC191AF}"/>
              </a:ext>
            </a:extLst>
          </p:cNvPr>
          <p:cNvCxnSpPr>
            <a:cxnSpLocks/>
          </p:cNvCxnSpPr>
          <p:nvPr/>
        </p:nvCxnSpPr>
        <p:spPr>
          <a:xfrm flipV="1">
            <a:off x="2008971" y="2704760"/>
            <a:ext cx="1465749" cy="2032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4DF0749-239D-11B0-EAB2-19AAE6AF690E}"/>
              </a:ext>
            </a:extLst>
          </p:cNvPr>
          <p:cNvSpPr/>
          <p:nvPr/>
        </p:nvSpPr>
        <p:spPr>
          <a:xfrm>
            <a:off x="4595601" y="887888"/>
            <a:ext cx="3396255" cy="2718867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3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run the analysis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72BFECD9-E848-23AB-EC08-21F666186538}"/>
              </a:ext>
            </a:extLst>
          </p:cNvPr>
          <p:cNvCxnSpPr>
            <a:cxnSpLocks/>
          </p:cNvCxnSpPr>
          <p:nvPr/>
        </p:nvCxnSpPr>
        <p:spPr>
          <a:xfrm>
            <a:off x="4754880" y="1436423"/>
            <a:ext cx="299923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2AA9855-EC8B-4F82-BD5A-9E76B11DBAA5}"/>
              </a:ext>
            </a:extLst>
          </p:cNvPr>
          <p:cNvSpPr/>
          <p:nvPr/>
        </p:nvSpPr>
        <p:spPr>
          <a:xfrm>
            <a:off x="4754880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72BE2F-94C2-CCBD-0B23-C67AB72FCAA4}"/>
              </a:ext>
            </a:extLst>
          </p:cNvPr>
          <p:cNvSpPr txBox="1"/>
          <p:nvPr/>
        </p:nvSpPr>
        <p:spPr>
          <a:xfrm>
            <a:off x="4754880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L1</a:t>
            </a:r>
          </a:p>
          <a:p>
            <a:pPr algn="ctr"/>
            <a:r>
              <a:rPr sz="900" b="1" i="0" dirty="0">
                <a:solidFill>
                  <a:srgbClr val="46586A"/>
                </a:solidFill>
                <a:latin typeface="IBM Plex Sans"/>
              </a:rPr>
              <a:t>retrieve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94E1E63-90D6-43EE-5FA8-AE35A0C5C71B}"/>
              </a:ext>
            </a:extLst>
          </p:cNvPr>
          <p:cNvSpPr/>
          <p:nvPr/>
        </p:nvSpPr>
        <p:spPr>
          <a:xfrm>
            <a:off x="8393881" y="2159846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3b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figures reviewed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F43BDDBD-4A8A-EB88-26F2-A2B870F1AF28}"/>
              </a:ext>
            </a:extLst>
          </p:cNvPr>
          <p:cNvCxnSpPr/>
          <p:nvPr/>
        </p:nvCxnSpPr>
        <p:spPr>
          <a:xfrm>
            <a:off x="8530406" y="2696970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F0197EB-FA4C-A880-5A84-EFD4052F02D9}"/>
              </a:ext>
            </a:extLst>
          </p:cNvPr>
          <p:cNvSpPr/>
          <p:nvPr/>
        </p:nvSpPr>
        <p:spPr>
          <a:xfrm>
            <a:off x="11338560" y="2174408"/>
            <a:ext cx="2103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4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officer reviews the plan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1DC8B62F-E593-17A9-DBC3-B7CE12F5D499}"/>
              </a:ext>
            </a:extLst>
          </p:cNvPr>
          <p:cNvCxnSpPr/>
          <p:nvPr/>
        </p:nvCxnSpPr>
        <p:spPr>
          <a:xfrm>
            <a:off x="11484864" y="2704760"/>
            <a:ext cx="181051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C568E53-6DB1-CB64-6370-A898F3DCD49A}"/>
              </a:ext>
            </a:extLst>
          </p:cNvPr>
          <p:cNvCxnSpPr/>
          <p:nvPr/>
        </p:nvCxnSpPr>
        <p:spPr>
          <a:xfrm>
            <a:off x="1460330" y="3027848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CAF21180-CD90-225A-099A-56937723DACB}"/>
              </a:ext>
            </a:extLst>
          </p:cNvPr>
          <p:cNvCxnSpPr>
            <a:cxnSpLocks/>
          </p:cNvCxnSpPr>
          <p:nvPr/>
        </p:nvCxnSpPr>
        <p:spPr>
          <a:xfrm>
            <a:off x="3621021" y="3027848"/>
            <a:ext cx="951547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4D8AC8D-FFEB-52D3-203E-CF617F19CCC8}"/>
              </a:ext>
            </a:extLst>
          </p:cNvPr>
          <p:cNvCxnSpPr>
            <a:cxnSpLocks/>
          </p:cNvCxnSpPr>
          <p:nvPr/>
        </p:nvCxnSpPr>
        <p:spPr>
          <a:xfrm>
            <a:off x="10405561" y="3180248"/>
            <a:ext cx="932999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943F13EE-0190-A5CA-6ECA-5408EE648E7B}"/>
              </a:ext>
            </a:extLst>
          </p:cNvPr>
          <p:cNvCxnSpPr>
            <a:cxnSpLocks/>
          </p:cNvCxnSpPr>
          <p:nvPr/>
        </p:nvCxnSpPr>
        <p:spPr>
          <a:xfrm>
            <a:off x="9316370" y="1589736"/>
            <a:ext cx="10510" cy="57011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5C53DA7A-C2D0-317A-CB64-24FE4079A38E}"/>
              </a:ext>
            </a:extLst>
          </p:cNvPr>
          <p:cNvCxnSpPr>
            <a:cxnSpLocks/>
          </p:cNvCxnSpPr>
          <p:nvPr/>
        </p:nvCxnSpPr>
        <p:spPr>
          <a:xfrm flipH="1">
            <a:off x="7963375" y="1577762"/>
            <a:ext cx="1363505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>
            <a:extLst>
              <a:ext uri="{FF2B5EF4-FFF2-40B4-BE49-F238E27FC236}">
                <a16:creationId xmlns:a16="http://schemas.microsoft.com/office/drawing/2014/main" id="{1ADF2863-5FE7-D0C0-FDB8-DDDB10F8D234}"/>
              </a:ext>
            </a:extLst>
          </p:cNvPr>
          <p:cNvCxnSpPr>
            <a:cxnSpLocks/>
          </p:cNvCxnSpPr>
          <p:nvPr/>
        </p:nvCxnSpPr>
        <p:spPr>
          <a:xfrm>
            <a:off x="12264200" y="1296161"/>
            <a:ext cx="0" cy="863685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3ED91475-1A7D-4291-5B75-042CB8EB7003}"/>
              </a:ext>
            </a:extLst>
          </p:cNvPr>
          <p:cNvCxnSpPr>
            <a:cxnSpLocks/>
          </p:cNvCxnSpPr>
          <p:nvPr/>
        </p:nvCxnSpPr>
        <p:spPr>
          <a:xfrm flipH="1">
            <a:off x="7991856" y="1281725"/>
            <a:ext cx="4272344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458793B1-6434-93F4-570C-F573D13504B1}"/>
              </a:ext>
            </a:extLst>
          </p:cNvPr>
          <p:cNvCxnSpPr/>
          <p:nvPr/>
        </p:nvCxnSpPr>
        <p:spPr>
          <a:xfrm>
            <a:off x="11887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A6057720-3AD3-4779-60AA-9A682FEB2492}"/>
              </a:ext>
            </a:extLst>
          </p:cNvPr>
          <p:cNvCxnSpPr/>
          <p:nvPr/>
        </p:nvCxnSpPr>
        <p:spPr>
          <a:xfrm>
            <a:off x="34747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97493CF5-2606-28C4-09D8-FCD6E589C8EB}"/>
              </a:ext>
            </a:extLst>
          </p:cNvPr>
          <p:cNvCxnSpPr/>
          <p:nvPr/>
        </p:nvCxnSpPr>
        <p:spPr>
          <a:xfrm>
            <a:off x="731520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586DF760-A943-FEA1-DF74-564494ED8E1C}"/>
              </a:ext>
            </a:extLst>
          </p:cNvPr>
          <p:cNvCxnSpPr/>
          <p:nvPr/>
        </p:nvCxnSpPr>
        <p:spPr>
          <a:xfrm>
            <a:off x="123901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59C7242A-3921-22ED-DF9A-79F14256154C}"/>
              </a:ext>
            </a:extLst>
          </p:cNvPr>
          <p:cNvCxnSpPr/>
          <p:nvPr/>
        </p:nvCxnSpPr>
        <p:spPr>
          <a:xfrm>
            <a:off x="182880" y="4487737"/>
            <a:ext cx="13258800" cy="0"/>
          </a:xfrm>
          <a:prstGeom prst="line">
            <a:avLst/>
          </a:prstGeom>
          <a:ln w="2032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88E0032-4716-7BFD-67A2-C3BDDB1FC67C}"/>
              </a:ext>
            </a:extLst>
          </p:cNvPr>
          <p:cNvSpPr txBox="1"/>
          <p:nvPr/>
        </p:nvSpPr>
        <p:spPr>
          <a:xfrm>
            <a:off x="182880" y="4560889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5B12"/>
                </a:solidFill>
                <a:latin typeface="IBM Plex Mono"/>
              </a:rPr>
              <a:t>HARNESS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50C5AD5-7CFA-F1F9-31ED-9CA6FB77DF2E}"/>
              </a:ext>
            </a:extLst>
          </p:cNvPr>
          <p:cNvSpPr/>
          <p:nvPr/>
        </p:nvSpPr>
        <p:spPr>
          <a:xfrm>
            <a:off x="1271016" y="4580041"/>
            <a:ext cx="859536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 dirty="0">
                <a:solidFill>
                  <a:srgbClr val="A85B12"/>
                </a:solidFill>
                <a:latin typeface="IBM Plex Sans"/>
              </a:rPr>
              <a:t>no default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EC5D195-E3D1-A32F-4C69-F8EF6CCCB0FF}"/>
              </a:ext>
            </a:extLst>
          </p:cNvPr>
          <p:cNvSpPr/>
          <p:nvPr/>
        </p:nvSpPr>
        <p:spPr>
          <a:xfrm>
            <a:off x="2304288" y="4580944"/>
            <a:ext cx="1609344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checkpoints gate both modes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A4B96E98-E492-365B-8217-C3B531CD8C96}"/>
              </a:ext>
            </a:extLst>
          </p:cNvPr>
          <p:cNvSpPr/>
          <p:nvPr/>
        </p:nvSpPr>
        <p:spPr>
          <a:xfrm>
            <a:off x="5193792" y="4570033"/>
            <a:ext cx="1755648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overrides priced, not blocked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34B01C02-6345-177E-F9A7-4D11B1C478CD}"/>
              </a:ext>
            </a:extLst>
          </p:cNvPr>
          <p:cNvSpPr/>
          <p:nvPr/>
        </p:nvSpPr>
        <p:spPr>
          <a:xfrm>
            <a:off x="7077456" y="4570033"/>
            <a:ext cx="1371600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every figure traceable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AC1C8B5-32FB-D880-C745-1B4982D8E4FA}"/>
              </a:ext>
            </a:extLst>
          </p:cNvPr>
          <p:cNvSpPr/>
          <p:nvPr/>
        </p:nvSpPr>
        <p:spPr>
          <a:xfrm>
            <a:off x="284819" y="2910500"/>
            <a:ext cx="1057994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i="0" dirty="0">
                <a:solidFill>
                  <a:srgbClr val="3B3B3B"/>
                </a:solidFill>
                <a:effectLst/>
                <a:latin typeface="-apple-system"/>
              </a:rPr>
              <a:t>data-scout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264F9CDF-11A3-1759-6A43-EAB2DE23171C}"/>
              </a:ext>
            </a:extLst>
          </p:cNvPr>
          <p:cNvSpPr/>
          <p:nvPr/>
        </p:nvSpPr>
        <p:spPr>
          <a:xfrm>
            <a:off x="2031900" y="2934884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i="0" dirty="0">
                <a:solidFill>
                  <a:srgbClr val="3B3B3B"/>
                </a:solidFill>
                <a:effectLst/>
                <a:latin typeface="-apple-system"/>
              </a:rPr>
              <a:t>spatial-analyst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2C6DC502-A7DD-DAE6-EE20-90AE6DC9261C}"/>
              </a:ext>
            </a:extLst>
          </p:cNvPr>
          <p:cNvSpPr/>
          <p:nvPr/>
        </p:nvSpPr>
        <p:spPr>
          <a:xfrm>
            <a:off x="5560389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3B4BAD-2DAE-8A68-AB55-3E953B0D6F58}"/>
              </a:ext>
            </a:extLst>
          </p:cNvPr>
          <p:cNvSpPr txBox="1"/>
          <p:nvPr/>
        </p:nvSpPr>
        <p:spPr>
          <a:xfrm>
            <a:off x="5560389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L2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Compile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F6CC17B5-CA74-356B-4A1F-4FB1FD82FF2C}"/>
              </a:ext>
            </a:extLst>
          </p:cNvPr>
          <p:cNvSpPr/>
          <p:nvPr/>
        </p:nvSpPr>
        <p:spPr>
          <a:xfrm>
            <a:off x="6364847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5AC27B8-C613-9D5B-8CAA-CD03D5FA49B3}"/>
              </a:ext>
            </a:extLst>
          </p:cNvPr>
          <p:cNvSpPr txBox="1"/>
          <p:nvPr/>
        </p:nvSpPr>
        <p:spPr>
          <a:xfrm>
            <a:off x="6364847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L3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Solve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5CA6D7F1-A536-769B-0E4D-8083E76DE08F}"/>
              </a:ext>
            </a:extLst>
          </p:cNvPr>
          <p:cNvSpPr/>
          <p:nvPr/>
        </p:nvSpPr>
        <p:spPr>
          <a:xfrm>
            <a:off x="7171648" y="1635918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1C62664-2F10-22F8-2CE9-9B3E245CFA65}"/>
              </a:ext>
            </a:extLst>
          </p:cNvPr>
          <p:cNvSpPr txBox="1"/>
          <p:nvPr/>
        </p:nvSpPr>
        <p:spPr>
          <a:xfrm>
            <a:off x="7171648" y="1781291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L4</a:t>
            </a:r>
          </a:p>
          <a:p>
            <a:pPr algn="ctr"/>
            <a:r>
              <a:rPr lang="en-US" sz="900" b="1" dirty="0" err="1">
                <a:solidFill>
                  <a:srgbClr val="46586A"/>
                </a:solidFill>
                <a:latin typeface="IBM Plex Sans"/>
              </a:rPr>
              <a:t>Overide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97FA1FD2-0873-8DE0-E03E-34AAEFEDB071}"/>
              </a:ext>
            </a:extLst>
          </p:cNvPr>
          <p:cNvSpPr/>
          <p:nvPr/>
        </p:nvSpPr>
        <p:spPr>
          <a:xfrm>
            <a:off x="7174591" y="2430120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5BD9885-81A0-0722-E5BD-A72BD6D3D73D}"/>
              </a:ext>
            </a:extLst>
          </p:cNvPr>
          <p:cNvSpPr txBox="1"/>
          <p:nvPr/>
        </p:nvSpPr>
        <p:spPr>
          <a:xfrm>
            <a:off x="7174591" y="2575493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L5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Evaluate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DEDB36B2-8C07-B749-BFD7-A98AF645C644}"/>
              </a:ext>
            </a:extLst>
          </p:cNvPr>
          <p:cNvSpPr/>
          <p:nvPr/>
        </p:nvSpPr>
        <p:spPr>
          <a:xfrm>
            <a:off x="6364847" y="2441069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A99CFF9-F839-FB46-3D95-DB7047FFCBCF}"/>
              </a:ext>
            </a:extLst>
          </p:cNvPr>
          <p:cNvSpPr txBox="1"/>
          <p:nvPr/>
        </p:nvSpPr>
        <p:spPr>
          <a:xfrm>
            <a:off x="6364847" y="2657701"/>
            <a:ext cx="548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Score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DEB24672-DE3A-773D-EDD1-7EFE27F9B545}"/>
              </a:ext>
            </a:extLst>
          </p:cNvPr>
          <p:cNvSpPr/>
          <p:nvPr/>
        </p:nvSpPr>
        <p:spPr>
          <a:xfrm>
            <a:off x="5559241" y="2441069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50B1BFA-72DB-F983-C7CD-50ED93B51A73}"/>
              </a:ext>
            </a:extLst>
          </p:cNvPr>
          <p:cNvSpPr txBox="1"/>
          <p:nvPr/>
        </p:nvSpPr>
        <p:spPr>
          <a:xfrm>
            <a:off x="5559241" y="2586442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L6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Report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1EC80C2B-C1DE-6876-249A-05E4DC1978F3}"/>
              </a:ext>
            </a:extLst>
          </p:cNvPr>
          <p:cNvSpPr/>
          <p:nvPr/>
        </p:nvSpPr>
        <p:spPr>
          <a:xfrm>
            <a:off x="4749464" y="2461326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557A87F-96EB-E48C-038D-F193E04011B7}"/>
              </a:ext>
            </a:extLst>
          </p:cNvPr>
          <p:cNvSpPr txBox="1"/>
          <p:nvPr/>
        </p:nvSpPr>
        <p:spPr>
          <a:xfrm>
            <a:off x="4749464" y="2606699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L7</a:t>
            </a:r>
          </a:p>
          <a:p>
            <a:pPr algn="ctr"/>
            <a:r>
              <a:rPr lang="en-US" sz="900" b="1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manifest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4A3F7AE6-BD24-C519-6DA4-F5C4B826A1BB}"/>
              </a:ext>
            </a:extLst>
          </p:cNvPr>
          <p:cNvSpPr/>
          <p:nvPr/>
        </p:nvSpPr>
        <p:spPr>
          <a:xfrm>
            <a:off x="8542117" y="2858176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dirty="0">
                <a:solidFill>
                  <a:srgbClr val="3B3B3B"/>
                </a:solidFill>
                <a:latin typeface="-apple-system"/>
              </a:rPr>
              <a:t>Map-reviewer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4D2241AD-FDFE-D1F7-8E5C-938BAC8457B5}"/>
              </a:ext>
            </a:extLst>
          </p:cNvPr>
          <p:cNvSpPr/>
          <p:nvPr/>
        </p:nvSpPr>
        <p:spPr>
          <a:xfrm>
            <a:off x="11551935" y="2863905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dirty="0">
                <a:solidFill>
                  <a:srgbClr val="3B3B3B"/>
                </a:solidFill>
                <a:latin typeface="-apple-system"/>
              </a:rPr>
              <a:t>Plan-reviewer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cxnSp>
        <p:nvCxnSpPr>
          <p:cNvPr id="133" name="Connector 68">
            <a:extLst>
              <a:ext uri="{FF2B5EF4-FFF2-40B4-BE49-F238E27FC236}">
                <a16:creationId xmlns:a16="http://schemas.microsoft.com/office/drawing/2014/main" id="{B642A6DA-DAD8-2D05-ACB5-12E5B686FAC1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7991856" y="3165686"/>
            <a:ext cx="402025" cy="5956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1A450C6-843B-174F-64D0-A52A47BEB5CF}"/>
              </a:ext>
            </a:extLst>
          </p:cNvPr>
          <p:cNvCxnSpPr>
            <a:cxnSpLocks/>
          </p:cNvCxnSpPr>
          <p:nvPr/>
        </p:nvCxnSpPr>
        <p:spPr>
          <a:xfrm>
            <a:off x="5833561" y="2988224"/>
            <a:ext cx="0" cy="77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AB8F378-438F-C058-F0A1-F3AFF471030C}"/>
              </a:ext>
            </a:extLst>
          </p:cNvPr>
          <p:cNvCxnSpPr>
            <a:cxnSpLocks/>
          </p:cNvCxnSpPr>
          <p:nvPr/>
        </p:nvCxnSpPr>
        <p:spPr>
          <a:xfrm>
            <a:off x="5023784" y="3051233"/>
            <a:ext cx="0" cy="63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7668E93-63BD-6E1E-B7C4-36B395E3AF40}"/>
              </a:ext>
            </a:extLst>
          </p:cNvPr>
          <p:cNvCxnSpPr>
            <a:cxnSpLocks/>
            <a:stCxn id="141" idx="3"/>
          </p:cNvCxnSpPr>
          <p:nvPr/>
        </p:nvCxnSpPr>
        <p:spPr>
          <a:xfrm>
            <a:off x="-191022" y="2857083"/>
            <a:ext cx="358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036CB08-4C9F-5261-00B5-DAC05C54EE4E}"/>
              </a:ext>
            </a:extLst>
          </p:cNvPr>
          <p:cNvSpPr txBox="1"/>
          <p:nvPr/>
        </p:nvSpPr>
        <p:spPr>
          <a:xfrm>
            <a:off x="-1094910" y="2533917"/>
            <a:ext cx="90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Input: Location &amp; Domain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A7AA901-3526-52E4-CB31-E57B8832860A}"/>
              </a:ext>
            </a:extLst>
          </p:cNvPr>
          <p:cNvSpPr txBox="1"/>
          <p:nvPr/>
        </p:nvSpPr>
        <p:spPr>
          <a:xfrm>
            <a:off x="4804074" y="3744423"/>
            <a:ext cx="1560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2107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339</Words>
  <Application>Microsoft Macintosh PowerPoint</Application>
  <PresentationFormat>Custom</PresentationFormat>
  <Paragraphs>123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-apple-system</vt:lpstr>
      <vt:lpstr>Arial</vt:lpstr>
      <vt:lpstr>Calibri</vt:lpstr>
      <vt:lpstr>IBM Plex Mono</vt:lpstr>
      <vt:lpstr>IBM Plex Sans</vt:lpstr>
      <vt:lpstr>Menlo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ad53lqp</cp:lastModifiedBy>
  <cp:revision>3</cp:revision>
  <dcterms:created xsi:type="dcterms:W3CDTF">2013-01-27T09:14:16Z</dcterms:created>
  <dcterms:modified xsi:type="dcterms:W3CDTF">2026-09-03T18:41:42Z</dcterms:modified>
  <cp:category/>
</cp:coreProperties>
</file>